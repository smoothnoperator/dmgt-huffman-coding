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Speaker: Nikhil Kumar</a:t>
            </a:r>
          </a:p>
          <a:p>
            <a:r>
              <a:t>Welcome faculty evaluator Dr. Priya Satish and introduce our topic on Optimal Prefix Codes and Huffman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Speaker: Nikhil Kumar</a:t>
            </a:r>
          </a:p>
          <a:p>
            <a:r>
              <a:t>Explain the balanced task distribution. All 6 members have clear, verifiable technical roles aligned with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Speaker: Nikhil Kumar</a:t>
            </a:r>
          </a:p>
          <a:p>
            <a:r>
              <a:t>Explain why uncompressed fixed-length data is redundant. Connect this directly to our branch: Blockchain Technology (CSE-BCT), block propagation, and ledger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Speaker: Sakshi Kumari</a:t>
            </a:r>
          </a:p>
          <a:p>
            <a:r>
              <a:t>Explain the 5 project objectives and how graph theory models compression: leaves hold symbols, root-to-leaf paths give codewords, and WEPL equals total compressed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Speaker: Sakshi Kumari</a:t>
            </a:r>
          </a:p>
          <a:p>
            <a:r>
              <a:t>Walk through Kraft's inequality (sum 2^-l &lt;= 1), Shannon's entropy bound H(X) &lt;= L &lt; H+1, and explain why bottom-up greedy merging is mathematically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Speaker: Nikhil Kumar</a:t>
            </a:r>
          </a:p>
          <a:p>
            <a:r>
              <a:t>Explain the min-heap implementation, time complexity O(N + |Sigma| log |Sigma|), and how Shannon-Fano works as our comparison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Speaker: Piyush Kumar</a:t>
            </a:r>
          </a:p>
          <a:p>
            <a:r>
              <a:t>Explain bit packing into raw bytes, padding handling, tree-walk decoding, and our 6 passing unit tests proving 100% lossless reconstruction.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Speaker: Arushi Pramanik</a:t>
            </a:r>
          </a:p>
          <a:p>
            <a:r>
              <a:t>Present our 4 datasets exceeding the &gt;= 300 data points rule. Highlight the NCBI GenBank biological accession and explain why DNA compresses by 70% while uniform random only compresses by 21%.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Speaker: Harsh R Rao</a:t>
            </a:r>
          </a:p>
          <a:p>
            <a:r>
              <a:t>Present the results of Experiment 1. Walk through the table and bar chart showing how Huffman code length hugs the Shannon entropy line across all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Speakers: Harsh R Rao &amp; Khyathi Jain</a:t>
            </a:r>
          </a:p>
          <a:p>
            <a:r>
              <a:t>Harsh explains the linear scaling curve (Exp 2). Khyathi explains the NetworkX tree visualization with internal nodes, leaf nodes, and decision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Speaker: Khyathi Jain</a:t>
            </a:r>
          </a:p>
          <a:p>
            <a:r>
              <a:t>Present the 8-stage compliance matrix showing Dr. Priya Satish that every single required syllabus stage has been completely satisfied.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All Members</a:t>
            </a:r>
          </a:p>
          <a:p>
            <a:r>
              <a:t>Conclude the presentation, invite questions from Dr. Priya Satish, and let each member answer questions related to their technical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a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3474720" cy="21712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10728655" cy="2286000"/>
          </a:xfrm>
          <a:prstGeom prst="roundRect">
            <a:avLst/>
          </a:prstGeom>
          <a:solidFill>
            <a:srgbClr val="102C57"/>
          </a:solidFill>
          <a:ln w="127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AD4E"/>
                </a:solidFill>
                <a:latin typeface="Arial"/>
              </a:defRPr>
            </a:pPr>
            <a:r>
              <a:t>DISCRETE MATHEMATICS &amp; GRAPH THEORY — EXPERIENTIAL LEARNING</a:t>
            </a:r>
          </a:p>
          <a:p>
            <a:pPr>
              <a:spcBef>
                <a:spcPts val="600"/>
              </a:spcBef>
              <a:defRPr sz="2500" b="1">
                <a:solidFill>
                  <a:srgbClr val="FFFFFF"/>
                </a:solidFill>
                <a:latin typeface="Arial"/>
              </a:defRPr>
            </a:pPr>
            <a:r>
              <a:t>Optimal Prefix Codes and Data Compression Using Huffman Coding</a:t>
            </a:r>
          </a:p>
          <a:p>
            <a:pPr>
              <a:spcBef>
                <a:spcPts val="400"/>
              </a:spcBef>
              <a:defRPr sz="1400" i="1">
                <a:solidFill>
                  <a:srgbClr val="C8DCF5"/>
                </a:solidFill>
                <a:latin typeface="Calibri"/>
              </a:defRPr>
            </a:pPr>
            <a:r>
              <a:t>An Information-Theoretic and Graph-Based Algorithmic Approach to Lossless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2C57"/>
                </a:solidFill>
                <a:latin typeface="Arial"/>
              </a:defRPr>
            </a:pPr>
            <a:r>
              <a:t>ACADEMIC EVALUATION DETAILS</a:t>
            </a:r>
          </a:p>
          <a:p>
            <a:pPr>
              <a:spcBef>
                <a:spcPts val="400"/>
              </a:spcBef>
              <a:defRPr sz="1050">
                <a:solidFill>
                  <a:srgbClr val="1E1E1E"/>
                </a:solidFill>
              </a:defRPr>
            </a:pPr>
            <a:r>
              <a:t>Submitted to:</a:t>
            </a:r>
            <a:br/>
            <a:r>
              <a:t>Dr. Priya Satish</a:t>
            </a:r>
            <a:br/>
            <a:r>
              <a:t>Assistant Professor, Department of Mathematics</a:t>
            </a:r>
            <a:br/>
            <a:r>
              <a:t>Faculty of Engineering &amp; Technology, JAIN (Deemed-to-be University)</a:t>
            </a:r>
          </a:p>
          <a:p>
            <a:pPr>
              <a:spcBef>
                <a:spcPts val="400"/>
              </a:spcBef>
              <a:defRPr sz="950" b="1">
                <a:solidFill>
                  <a:srgbClr val="1F4E78"/>
                </a:solidFill>
              </a:defRPr>
            </a:pPr>
            <a:r>
              <a:t>Branch: CSE - BLOCKCHAIN  •  Date: 10-11-2026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114800"/>
            <a:ext cx="5425135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2C57"/>
                </a:solidFill>
                <a:latin typeface="Arial"/>
              </a:defRPr>
            </a:pPr>
            <a:r>
              <a:t>SUBMITTED BY (TEAM MEMBERS):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</a:defRPr>
            </a:pPr>
            <a:r>
              <a:t>• Nikhil Kumar (25BTRBT026)  —  Project Lead &amp; Core Implementation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</a:defRPr>
            </a:pPr>
            <a:r>
              <a:t>• Piyush Kumar (25BTRBT030)  —  Encoder/Decoder &amp; Verification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</a:defRPr>
            </a:pPr>
            <a:r>
              <a:t>• Sakshi Kumari (25BTRC0045)  —  Mathematical Formulation &amp; Theory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</a:defRPr>
            </a:pPr>
            <a:r>
              <a:t>• Arushi Pramanik (25BTRBT008)  —  Dataset Collection &amp; Preprocessing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</a:defRPr>
            </a:pPr>
            <a:r>
              <a:t>• Harsh R Rao (25BTRBT017)  —  Experimental Design &amp; Benchmarking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</a:defRPr>
            </a:pPr>
            <a:r>
              <a:t>• Khyathi Jain (25BTRBT021)  —  Visualization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Team Task Distribution &amp; Responsibility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Nikhil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5486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Nikhil Kumar (25BTRBT026)</a:t>
            </a:r>
          </a:p>
          <a:p>
            <a:pPr>
              <a:defRPr sz="850">
                <a:solidFill>
                  <a:srgbClr val="E6E6E6"/>
                </a:solidFill>
              </a:defRPr>
            </a:pPr>
            <a:r>
              <a:t>Project Lead &amp; Core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Min-heap greedy Huffman tree builder (heapq)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DFS recursive prefix code extractor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Baseline Shannon-Fano algorithm implementation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Central pipeline integration &amp; GitHub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29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429000" cy="5486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Piyush Kumar (25BTRBT030)</a:t>
            </a:r>
          </a:p>
          <a:p>
            <a:pPr>
              <a:defRPr sz="850">
                <a:solidFill>
                  <a:srgbClr val="E6E6E6"/>
                </a:solidFill>
              </a:defRPr>
            </a:pPr>
            <a:r>
              <a:t>Codec &amp; Lossless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Bitstream serialization &amp; 8-bit byte chunk packing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Bitstream padding &amp; trimming calculations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Tree-walk decoder with zero delimiter overhead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Pytest test suite (6/6 tests passing)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371600"/>
            <a:ext cx="3429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371600"/>
            <a:ext cx="3429000" cy="548640"/>
          </a:xfrm>
          <a:prstGeom prst="rect">
            <a:avLst/>
          </a:prstGeom>
          <a:solidFill>
            <a:srgbClr val="31A354"/>
          </a:solidFill>
          <a:ln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41732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Sakshi Kumari (25BTRC0045)</a:t>
            </a:r>
          </a:p>
          <a:p>
            <a:pPr>
              <a:defRPr sz="850">
                <a:solidFill>
                  <a:srgbClr val="E6E6E6"/>
                </a:solidFill>
              </a:defRPr>
            </a:pPr>
            <a:r>
              <a:t>Mathematical Formulation &amp;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96596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Discrete tree structures &amp; path length definitions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Kraft–McMillan inequality proofs &amp; verification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Shannon Source Coding Theorem bounds H(X) &lt;= L(C)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Greedy-choice &amp; optimal substructure proofs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429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3429000" cy="548640"/>
          </a:xfrm>
          <a:prstGeom prst="rect">
            <a:avLst/>
          </a:prstGeom>
          <a:solidFill>
            <a:srgbClr val="E6550D"/>
          </a:solidFill>
          <a:ln>
            <a:solidFill>
              <a:srgbClr val="E655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Arushi Pramanik (25BTRBT008)</a:t>
            </a:r>
          </a:p>
          <a:p>
            <a:pPr>
              <a:defRPr sz="850">
                <a:solidFill>
                  <a:srgbClr val="E6E6E6"/>
                </a:solidFill>
              </a:defRPr>
            </a:pPr>
            <a:r>
              <a:t>Dataset &amp;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Curated 4 corpora exceeding &gt;= 300 records rule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NCBI GenBank bacteriophage DNA FASTA sequence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Project Gutenberg English text &amp; CPython source code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Statistical frequency distribution 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840480"/>
            <a:ext cx="3429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840480"/>
            <a:ext cx="3429000" cy="5486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88620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Harsh R Rao (25BTRBT017)</a:t>
            </a:r>
          </a:p>
          <a:p>
            <a:pPr>
              <a:defRPr sz="850">
                <a:solidFill>
                  <a:srgbClr val="E6E6E6"/>
                </a:solidFill>
              </a:defRPr>
            </a:pPr>
            <a:r>
              <a:t>Experiments &amp; Benchmarking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Designed Exp 1: Cross-domain efficiency metrics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Designed Exp 2: Runtime scaling (300 to 100k items)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Compared Huffman vs. Shannon-Fano vs. ASCII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Generated CSV results &amp; Matplotlib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840480"/>
            <a:ext cx="34290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3840480"/>
            <a:ext cx="3429000" cy="5486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88620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Khyathi Jain (25BTRBT021)</a:t>
            </a:r>
          </a:p>
          <a:p>
            <a:pPr>
              <a:defRPr sz="850">
                <a:solidFill>
                  <a:srgbClr val="E6E6E6"/>
                </a:solidFill>
              </a:defRPr>
            </a:pPr>
            <a:r>
              <a:t>Visualization &amp;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348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NetworkX rooted binary tree layout generator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Visual decision edge labeling ('0' and '1')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Compiled research report (Word, HTML, LaTeX)</a:t>
            </a:r>
          </a:p>
          <a:p>
            <a:pPr>
              <a:spcBef>
                <a:spcPts val="200"/>
              </a:spcBef>
              <a:defRPr sz="850">
                <a:solidFill>
                  <a:srgbClr val="1E1E1E"/>
                </a:solidFill>
              </a:defRPr>
            </a:pPr>
            <a:r>
              <a:t>• Presentation slides design &amp; coordination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1: Problem Identification &amp; Real-World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Nikhil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THE CORE ENGINEERING BOTTLENECK</a:t>
            </a:r>
          </a:p>
          <a:p>
            <a:pPr>
              <a:spcBef>
                <a:spcPts val="800"/>
              </a:spcBef>
              <a:defRPr sz="1100" b="1">
                <a:solidFill>
                  <a:srgbClr val="1F4E78"/>
                </a:solidFill>
              </a:defRPr>
            </a:pPr>
            <a:r>
              <a:t>Fixed-Length Encoding Redundancy:</a:t>
            </a:r>
          </a:p>
          <a:p>
            <a:pPr>
              <a:spcBef>
                <a:spcPts val="400"/>
              </a:spcBef>
              <a:defRPr sz="1000"/>
            </a:pPr>
            <a:r>
              <a:t>• Standard computer architectures represent data using fixed 8-bit ASCII or 16-bit Unicode.</a:t>
            </a:r>
            <a:br/>
            <a:r>
              <a:t>• Under fixed-length encoding, every symbol consumes an identical bit depth (8 bits), ignoring non-uniform symbol occurrence frequencies.</a:t>
            </a:r>
            <a:br/>
            <a:r>
              <a:t>• Frequent characters (like 'e', spaces, or 'A' in DNA) consume the exact same capacity as rare characters ('z', '$').</a:t>
            </a:r>
            <a:br/>
            <a:r>
              <a:t>• Result: Massive statistical redundancy R = 8 - H(X), wasting up to 70% of storage and bandwidth.</a:t>
            </a:r>
          </a:p>
          <a:p>
            <a:pPr>
              <a:spcBef>
                <a:spcPts val="800"/>
              </a:spcBef>
              <a:defRPr sz="1100" b="1">
                <a:solidFill>
                  <a:srgbClr val="E6550D"/>
                </a:solidFill>
              </a:defRPr>
            </a:pPr>
            <a:r>
              <a:t>The Mathematical Challenge:</a:t>
            </a:r>
          </a:p>
          <a:p>
            <a:pPr>
              <a:spcBef>
                <a:spcPts val="400"/>
              </a:spcBef>
              <a:defRPr sz="1000" i="1"/>
            </a:pPr>
            <a:r>
              <a:t>How to construct a variable-length prefix code that guarantees instantaneous decoding, approaches Shannon Entropy H(X), and achieves 100% lossless recovery (D(E(M)) = M)?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RELEVANCE TO BLOCKCHAIN &amp; SYSTEMS (CSE-BCT)</a:t>
            </a:r>
          </a:p>
          <a:p>
            <a:pPr>
              <a:spcBef>
                <a:spcPts val="800"/>
              </a:spcBef>
              <a:defRPr sz="1100" b="1">
                <a:solidFill>
                  <a:srgbClr val="1F4E78"/>
                </a:solidFill>
              </a:defRPr>
            </a:pPr>
            <a:r>
              <a:t>1. P2P Block Propagation Latency:</a:t>
            </a:r>
          </a:p>
          <a:p>
            <a:pPr>
              <a:spcBef>
                <a:spcPts val="200"/>
              </a:spcBef>
              <a:defRPr sz="1000"/>
            </a:pPr>
            <a:r>
              <a:t>In decentralized blockchains, uncompressed transaction payloads inflate block sizes. Larger blocks take longer to broadcast across peer nodes, causing network desynchronization and higher orphan block/fork rates.</a:t>
            </a:r>
          </a:p>
          <a:p>
            <a:pPr>
              <a:spcBef>
                <a:spcPts val="800"/>
              </a:spcBef>
              <a:defRPr sz="1100" b="1">
                <a:solidFill>
                  <a:srgbClr val="1F4E78"/>
                </a:solidFill>
              </a:defRPr>
            </a:pPr>
            <a:r>
              <a:t>2. Immutable State Ledger Bloat:</a:t>
            </a:r>
          </a:p>
          <a:p>
            <a:pPr>
              <a:spcBef>
                <a:spcPts val="200"/>
              </a:spcBef>
              <a:defRPr sz="1000"/>
            </a:pPr>
            <a:r>
              <a:t>Blockchain full nodes must permanently store entire transaction histories. Lossless compression significantly reduces persistent hardware requirements for validators.</a:t>
            </a:r>
          </a:p>
          <a:p>
            <a:pPr>
              <a:spcBef>
                <a:spcPts val="800"/>
              </a:spcBef>
              <a:defRPr sz="1100" b="1">
                <a:solidFill>
                  <a:srgbClr val="1F4E78"/>
                </a:solidFill>
              </a:defRPr>
            </a:pPr>
            <a:r>
              <a:t>3. Biological Big Data &amp; Cloud Economics:</a:t>
            </a:r>
          </a:p>
          <a:p>
            <a:pPr>
              <a:spcBef>
                <a:spcPts val="200"/>
              </a:spcBef>
              <a:defRPr sz="1000"/>
            </a:pPr>
            <a:r>
              <a:t>Storing genomic DNA in fixed 8-bit ASCII wastes &gt;70% capacity. Optimal prefix coding reduces file sizes by 3.37x, cutting cloud egress and storage expenses.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2: Mathematical Formulation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Sakshi Kumari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PROJECT OBJECTIVES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1. Graph Modeling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Formulate prefix codes over directed, rooted weighted binary trees T = (V, E).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2. Mathematical Invariants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Verify Kraft–McMillan inequality (sum 2^-l &lt;= 1) and Shannon entropy bound H(X) &lt;= L(C).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3. Pipeline Implementation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Build end-to-end Python engine (min-heap, bit-packing, lossless tree-walk decoder).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4. Quantitative Benchmarking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Conduct 2 experiments comparing Huffman vs. Shannon-Fano vs. ASCII across 4 datasets (N &gt;= 300).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5. Graph Visualization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Render hierarchical tree structures with edge labels ('0' and '1') using NetworkX.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33695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DMGT DISCRETE GRAPH FORMULATION</a:t>
            </a:r>
          </a:p>
          <a:p>
            <a:pPr>
              <a:spcBef>
                <a:spcPts val="600"/>
              </a:spcBef>
              <a:defRPr sz="1050" b="1">
                <a:solidFill>
                  <a:srgbClr val="31A354"/>
                </a:solidFill>
              </a:defRPr>
            </a:pPr>
            <a:r>
              <a:t>Alphabet &amp; Probabilities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Finite alphabet Sigma = {s_1, ..., s_n} with frequencies f_i and probabilities p_i = f_i / N where sum(p_i) = 1.</a:t>
            </a:r>
          </a:p>
          <a:p>
            <a:pPr>
              <a:spcBef>
                <a:spcPts val="600"/>
              </a:spcBef>
              <a:defRPr sz="1050" b="1">
                <a:solidFill>
                  <a:srgbClr val="31A354"/>
                </a:solidFill>
              </a:defRPr>
            </a:pPr>
            <a:r>
              <a:t>Rooted Binary Tree T = (V, E)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• Leaf nodes V_L: Symbols s_i with weight w(v_i) = f_i at depth l_i.</a:t>
            </a:r>
            <a:br/>
            <a:r>
              <a:t>• Internal nodes V_I: Out-degree 2 with weight w(u) = w(u_left) + w(u_right).</a:t>
            </a:r>
            <a:br/>
            <a:r>
              <a:t>• Directed edges: Left branch labeled '0', right branch labeled '1'.</a:t>
            </a:r>
          </a:p>
          <a:p>
            <a:pPr>
              <a:spcBef>
                <a:spcPts val="600"/>
              </a:spcBef>
              <a:defRPr sz="1050" b="1">
                <a:solidFill>
                  <a:srgbClr val="31A354"/>
                </a:solidFill>
              </a:defRPr>
            </a:pPr>
            <a:r>
              <a:t>Prefix-Free Condition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No codeword c(s_i) is a prefix of another c(s_j). Guaranteed by placing all symbols strictly at tree leaves (V_L).</a:t>
            </a:r>
          </a:p>
          <a:p>
            <a:pPr>
              <a:spcBef>
                <a:spcPts val="600"/>
              </a:spcBef>
              <a:defRPr sz="1050" b="1">
                <a:solidFill>
                  <a:srgbClr val="31A354"/>
                </a:solidFill>
              </a:defRPr>
            </a:pPr>
            <a:r>
              <a:t>Weighted External Path Length (WEPL)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Total compressed bits: W(T) = sum_{v in V_L} w(v) * depth(v) = N * L(C).</a:t>
            </a:r>
            <a:br/>
            <a:r>
              <a:t>Minimizing expected codeword length L(C) is mathematically identical to finding a tree with minimum WEPL.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2 (Cont.): Information-Theoretic Limits &amp; Optimality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Sakshi Kumari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5943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Theorem 1: Kraft–McMillan Inequality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154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1E1E"/>
                </a:solidFill>
              </a:defRPr>
            </a:pPr>
            <a:r>
              <a:t>For any uniquely decodable binary prefix code with lengths l_1, l_2, ..., l_n:</a:t>
            </a:r>
            <a:br/>
            <a:br/>
            <a:r>
              <a:t>        sum_{i=1}^n  2^(-l_i)  &lt;=  1.0</a:t>
            </a:r>
            <a:br/>
            <a:br/>
            <a:r>
              <a:t>• Strict equality (= 1.0) holds if and only if the rooted binary tree is full (every internal node has out-degree 2).</a:t>
            </a:r>
            <a:br/>
            <a:r>
              <a:t>• In our project: Evaluated sum = 1.000000 across all 4 datasets, proving zero wasted codeword 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429000" cy="5943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4475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Theorem 2: Shannon's Source Coding Theorem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154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1E1E"/>
                </a:solidFill>
              </a:defRPr>
            </a:pPr>
            <a:r>
              <a:t>The Shannon entropy H(X) is the theoretical lower limit of lossless compression:</a:t>
            </a:r>
            <a:br/>
            <a:br/>
            <a:r>
              <a:t>        H(X) = - sum_{i=1}^n  p_i * log2(p_i)   (bits/symbol)</a:t>
            </a:r>
            <a:br/>
            <a:br/>
            <a:r>
              <a:t>For any optimal instantaneous code, expected length L(C) satisfies:</a:t>
            </a:r>
            <a:br/>
            <a:br/>
            <a:r>
              <a:t>        H(X)  &lt;=  L(C)  &lt;  H(X) + 1</a:t>
            </a:r>
            <a:br/>
            <a:br/>
            <a:r>
              <a:t>• Redundancy R = L(C) - H(X) &gt;= 0 measures efficiency gap.</a:t>
            </a:r>
            <a:br/>
            <a:r>
              <a:t>• Huffman coding achieves R &lt; 0.03 bits/sym on English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371600"/>
            <a:ext cx="3429000" cy="594360"/>
          </a:xfrm>
          <a:prstGeom prst="rect">
            <a:avLst/>
          </a:prstGeom>
          <a:solidFill>
            <a:srgbClr val="31A354"/>
          </a:solidFill>
          <a:ln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44475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Proof Sketch: Huffman Optimality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057400"/>
            <a:ext cx="3154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1E1E"/>
                </a:solidFill>
              </a:defRPr>
            </a:pPr>
            <a:r>
              <a:t>Huffman coding achieves minimum WEPL via two graph invariants:</a:t>
            </a:r>
            <a:br/>
            <a:br/>
            <a:r>
              <a:t>1. Greedy-Choice Property: Two symbols with lowest frequencies appear as sibling leaves at maximum tree depth.</a:t>
            </a:r>
            <a:br/>
            <a:br/>
            <a:r>
              <a:t>2. Optimal Substructure: Merging two lowest-weight nodes u, v into parent z reduces alphabet size from n to n-1:</a:t>
            </a:r>
            <a:br/>
            <a:r>
              <a:t>        W(T) = W(T') + w(u) + w(v)</a:t>
            </a:r>
            <a:br/>
            <a:r>
              <a:t>Minimizing W(T) is equivalent to minimizing W(T'), proving global optimality by induction.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3: Algorithm Architecture &amp; Min-Heap Priority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Nikhil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HUFFMAN GREEDY MIN-HEAP PIPELINE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Step 1: Frequency Counting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Scan input text M of length N to build frequency map in O(N) time.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Step 2: Min-Heap Initialization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Instantiate |Sigma| leaf nodes and build min-priority queue using heapq.heapify() in O(|Sigma|) time.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Step 3: Greedy Tree Merging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While heap size &gt; 1:</a:t>
            </a:r>
            <a:br/>
            <a:r>
              <a:t>  1. u = heappop(Q)  (smallest weight)</a:t>
            </a:r>
            <a:br/>
            <a:r>
              <a:t>  2. v = heappop(Q)  (2nd smallest)</a:t>
            </a:r>
            <a:br/>
            <a:r>
              <a:t>  3. parent = Node(weight=u.freq + v.freq, left=u, right=v)</a:t>
            </a:r>
            <a:br/>
            <a:r>
              <a:t>  4. heappush(Q, parent)</a:t>
            </a:r>
            <a:br/>
            <a:r>
              <a:t>Loop executes |Sigma|-1 times in O(|Sigma| log |Sigma|) time.</a:t>
            </a:r>
          </a:p>
          <a:p>
            <a:pPr>
              <a:spcBef>
                <a:spcPts val="600"/>
              </a:spcBef>
              <a:defRPr sz="1050" b="1">
                <a:solidFill>
                  <a:srgbClr val="1F4E78"/>
                </a:solidFill>
              </a:defRPr>
            </a:pPr>
            <a:r>
              <a:t>Step 4: DFS Prefix Code Extraction</a:t>
            </a:r>
          </a:p>
          <a:p>
            <a:pPr>
              <a:spcBef>
                <a:spcPts val="100"/>
              </a:spcBef>
              <a:defRPr sz="950">
                <a:solidFill>
                  <a:srgbClr val="1E1E1E"/>
                </a:solidFill>
              </a:defRPr>
            </a:pPr>
            <a:r>
              <a:t>Traverse from root to leaves: going Left appends '0', Right appends '1'. Leaf node records codeword in O(|Sigma|)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50815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TIME COMPLEXITY &amp; COMPARISON BASELINE</a:t>
            </a:r>
          </a:p>
          <a:p>
            <a:pPr>
              <a:spcBef>
                <a:spcPts val="800"/>
              </a:spcBef>
              <a:defRPr sz="1100" b="1">
                <a:solidFill>
                  <a:srgbClr val="31A354"/>
                </a:solidFill>
              </a:defRPr>
            </a:pPr>
            <a:r>
              <a:t>Computational Complexity Analysis:</a:t>
            </a:r>
          </a:p>
          <a:p>
            <a:pPr>
              <a:spcBef>
                <a:spcPts val="400"/>
              </a:spcBef>
              <a:defRPr sz="950"/>
            </a:pPr>
            <a:r>
              <a:t>• Tree Construction: O(|Sigma| log |Sigma|)</a:t>
            </a:r>
            <a:br/>
            <a:r>
              <a:t>• Text Encoding: O(N) via hash table lookup</a:t>
            </a:r>
            <a:br/>
            <a:r>
              <a:t>• Tree-Walk Decoding: O(N) - 1 step per bit</a:t>
            </a:r>
            <a:br/>
            <a:r>
              <a:t>• Total Time: O(N + |Sigma| log |Sigma|)</a:t>
            </a:r>
            <a:br/>
            <a:r>
              <a:t>• Space Complexity: O(|Sigma|) tree nodes</a:t>
            </a:r>
            <a:br/>
            <a:r>
              <a:t>Because |Sigma| &lt;= 256 for ASCII, tree build is instant (~0.18 ms), rendering runtime strictly linear with text size N.</a:t>
            </a:r>
          </a:p>
          <a:p>
            <a:pPr>
              <a:spcBef>
                <a:spcPts val="800"/>
              </a:spcBef>
              <a:defRPr sz="1100" b="1">
                <a:solidFill>
                  <a:srgbClr val="E6550D"/>
                </a:solidFill>
              </a:defRPr>
            </a:pPr>
            <a:r>
              <a:t>Baseline: Shannon–Fano Coding</a:t>
            </a:r>
          </a:p>
          <a:p>
            <a:pPr>
              <a:spcBef>
                <a:spcPts val="400"/>
              </a:spcBef>
              <a:defRPr sz="950"/>
            </a:pPr>
            <a:r>
              <a:t>• Top-down recursive frequency partitioning.</a:t>
            </a:r>
            <a:br/>
            <a:r>
              <a:t>• Sorts symbols, divides list into 2 subsets of equal cumulative frequency, assigns '0' and '1'.</a:t>
            </a:r>
            <a:br/>
            <a:r>
              <a:t>• Suboptimal: Top-down local splits cannot foresee bottom combinations, yielding longer codes than Huffman.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4: Bitstream Codec &amp; Automated Lossless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Piyush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BITSTREAM PACKING &amp; SERIALIZATION</a:t>
            </a:r>
          </a:p>
          <a:p>
            <a:pPr>
              <a:spcBef>
                <a:spcPts val="600"/>
              </a:spcBef>
              <a:defRPr sz="1100" b="1">
                <a:solidFill>
                  <a:srgbClr val="1F4E78"/>
                </a:solidFill>
              </a:defRPr>
            </a:pPr>
            <a:r>
              <a:t>The Memory Alignment Challenge:</a:t>
            </a:r>
          </a:p>
          <a:p>
            <a:pPr>
              <a:spcBef>
                <a:spcPts val="200"/>
              </a:spcBef>
              <a:defRPr sz="950"/>
            </a:pPr>
            <a:r>
              <a:t>Modern storage drives read/write in 8-bit bytes, not individual bits. Concatenating variable prefix codes produces bitstreams whose lengths are not multiples of 8.</a:t>
            </a:r>
          </a:p>
          <a:p>
            <a:pPr>
              <a:spcBef>
                <a:spcPts val="600"/>
              </a:spcBef>
              <a:defRPr sz="1100" b="1">
                <a:solidFill>
                  <a:srgbClr val="1F4E78"/>
                </a:solidFill>
              </a:defRPr>
            </a:pPr>
            <a:r>
              <a:t>Our Codec Solution (src/codec.py):</a:t>
            </a:r>
          </a:p>
          <a:p>
            <a:pPr>
              <a:spcBef>
                <a:spcPts val="200"/>
              </a:spcBef>
              <a:defRPr sz="950"/>
            </a:pPr>
            <a:r>
              <a:t>1. Padding Calculation: Extra bits P = (8 - (len mod 8)) mod 8.</a:t>
            </a:r>
            <a:br/>
            <a:r>
              <a:t>2. Byte Packing: Packs 8-bit chunks into bytearray().</a:t>
            </a:r>
            <a:br/>
            <a:r>
              <a:t>3. Header Protocol: Stores padding count P for clean stripping.</a:t>
            </a:r>
            <a:br/>
            <a:r>
              <a:t>4. Tree-Walk Decoding: Reads bitstream bit-by-bit:</a:t>
            </a:r>
            <a:br/>
            <a:r>
              <a:t>   • Bit '0' -&gt; navigate to current.left</a:t>
            </a:r>
            <a:br/>
            <a:r>
              <a:t>   • Bit '1' -&gt; navigate to current.right</a:t>
            </a:r>
            <a:br/>
            <a:r>
              <a:t>   • Leaf node reached -&gt; emit character &amp; reset to root.</a:t>
            </a:r>
            <a:br/>
            <a:r>
              <a:t>   • Zero delimiter overhead required!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50815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PYTEST VERIFICATION SUITE (6/6 PASSING)</a:t>
            </a:r>
          </a:p>
          <a:p>
            <a:pPr>
              <a:spcBef>
                <a:spcPts val="400"/>
              </a:spcBef>
              <a:defRPr sz="950" b="1">
                <a:solidFill>
                  <a:srgbClr val="31A354"/>
                </a:solidFill>
              </a:defRPr>
            </a:pPr>
            <a:r>
              <a:t>[PASS] test_basic_lossless_roundtrip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</a:defRPr>
            </a:pPr>
            <a:r>
              <a:t>Verifies mathematical idempotency: D(E(M)) == M.</a:t>
            </a:r>
          </a:p>
          <a:p>
            <a:pPr>
              <a:spcBef>
                <a:spcPts val="400"/>
              </a:spcBef>
              <a:defRPr sz="950" b="1">
                <a:solidFill>
                  <a:srgbClr val="31A354"/>
                </a:solidFill>
              </a:defRPr>
            </a:pPr>
            <a:r>
              <a:t>[PASS] test_prefix_property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</a:defRPr>
            </a:pPr>
            <a:r>
              <a:t>Asserts no generated codeword is a prefix of any other codeword.</a:t>
            </a:r>
          </a:p>
          <a:p>
            <a:pPr>
              <a:spcBef>
                <a:spcPts val="400"/>
              </a:spcBef>
              <a:defRPr sz="950" b="1">
                <a:solidFill>
                  <a:srgbClr val="31A354"/>
                </a:solidFill>
              </a:defRPr>
            </a:pPr>
            <a:r>
              <a:t>[PASS] test_kraft_inequality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</a:defRPr>
            </a:pPr>
            <a:r>
              <a:t>Validates sum(2^-l_i) &lt;= 1.0 (evaluates to exactly 1.000000).</a:t>
            </a:r>
          </a:p>
          <a:p>
            <a:pPr>
              <a:spcBef>
                <a:spcPts val="400"/>
              </a:spcBef>
              <a:defRPr sz="950" b="1">
                <a:solidFill>
                  <a:srgbClr val="31A354"/>
                </a:solidFill>
              </a:defRPr>
            </a:pPr>
            <a:r>
              <a:t>[PASS] test_entropy_bound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</a:defRPr>
            </a:pPr>
            <a:r>
              <a:t>Confirms empirical expected length satisfies H(X) &lt;= L(C) &lt; H(X)+1.</a:t>
            </a:r>
          </a:p>
          <a:p>
            <a:pPr>
              <a:spcBef>
                <a:spcPts val="400"/>
              </a:spcBef>
              <a:defRPr sz="950" b="1">
                <a:solidFill>
                  <a:srgbClr val="31A354"/>
                </a:solidFill>
              </a:defRPr>
            </a:pPr>
            <a:r>
              <a:t>[PASS] test_single_character_edge_case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</a:defRPr>
            </a:pPr>
            <a:r>
              <a:t>Verifies graceful handling of inputs with alphabet size |Sigma| = 1 ('AAAA...').</a:t>
            </a:r>
          </a:p>
          <a:p>
            <a:pPr>
              <a:spcBef>
                <a:spcPts val="400"/>
              </a:spcBef>
              <a:defRPr sz="950" b="1">
                <a:solidFill>
                  <a:srgbClr val="31A354"/>
                </a:solidFill>
              </a:defRPr>
            </a:pPr>
            <a:r>
              <a:t>[PASS] test_shannon_fano_optimality</a:t>
            </a:r>
          </a:p>
          <a:p>
            <a:pPr>
              <a:spcBef>
                <a:spcPts val="100"/>
              </a:spcBef>
              <a:defRPr sz="850">
                <a:solidFill>
                  <a:srgbClr val="1E1E1E"/>
                </a:solidFill>
              </a:defRPr>
            </a:pPr>
            <a:r>
              <a:t>Proves Huffman code length &lt;= Shannon-Fano length (L_Huffman &lt;= L_SF).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5: Benchmark Datasets &amp; Public Provenance (N &gt;= 300)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Arushi Pramanik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1280160"/>
                <a:gridCol w="1371600"/>
                <a:gridCol w="332201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Domain Description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Records (N)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Alphabet (|Sigma|)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Public Source / Data Link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</a:defRPr>
                      </a:pPr>
                      <a:r>
                        <a:t>Dataset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Natural Language English Text</a:t>
                      </a:r>
                    </a:p>
                    <a:p>
                      <a:r>
                        <a:t>(Academic discrete math literature)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2,001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Project Gutenberg &amp; MacTutor Archive</a:t>
                      </a:r>
                    </a:p>
                    <a:p>
                      <a:r>
                        <a:t>(sample_english.txt)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</a:defRPr>
                      </a:pPr>
                      <a:r>
                        <a:t>Dataset B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Python Source Code</a:t>
                      </a:r>
                    </a:p>
                    <a:p>
                      <a:r>
                        <a:t>(DataProcessor class &amp; utilities)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1,432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CPython Standard Library Repository</a:t>
                      </a:r>
                    </a:p>
                    <a:p>
                      <a:r>
                        <a:t>(sample_code.py)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</a:defRPr>
                      </a:pPr>
                      <a:r>
                        <a:t>Dataset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Genomic DNA Nucleotide Sequence</a:t>
                      </a:r>
                    </a:p>
                    <a:p>
                      <a:r>
                        <a:t>(Bacteriophage T4 genome fragment)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NCBI GenBank Accession: NC_000866.4</a:t>
                      </a:r>
                    </a:p>
                    <a:p>
                      <a:r>
                        <a:t>(sample_dna.fasta)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1E1E"/>
                          </a:solidFill>
                        </a:defRPr>
                      </a:pPr>
                      <a:r>
                        <a:t>Dataset D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Uniform Random Baseline Text</a:t>
                      </a:r>
                    </a:p>
                    <a:p>
                      <a:r>
                        <a:t>(Balanced ASCII symbol generator)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1,140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1E1E"/>
                          </a:solidFill>
                        </a:defRPr>
                      </a:pPr>
                      <a:r>
                        <a:t>Algorithmic Uniform Generator</a:t>
                      </a:r>
                    </a:p>
                    <a:p>
                      <a:r>
                        <a:t>(sample_uniform.txt)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A354"/>
                </a:solidFill>
              </a:defRPr>
            </a:pPr>
            <a:r>
              <a:t>WHY GENOMIC DNA ACHIEVES 70% COMPRESSION:</a:t>
            </a:r>
          </a:p>
          <a:p>
            <a:pPr>
              <a:spcBef>
                <a:spcPts val="400"/>
              </a:spcBef>
              <a:defRPr sz="950"/>
            </a:pPr>
            <a:r>
              <a:t>• DNA features a severely skewed 4-nucleotide alphabet (A, C, G, T).</a:t>
            </a:r>
            <a:br/>
            <a:r>
              <a:t>• Theoretical entropy drops to only H = 2.26 bits/symbol.</a:t>
            </a:r>
            <a:br/>
            <a:r>
              <a:t>• Huffman assigns short 1-to-2 bit paths to frequent bases.</a:t>
            </a:r>
            <a:br/>
            <a:r>
              <a:t>• Result: Massive 3.37x compression ratio (70.37% storage savings)!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42255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50D"/>
                </a:solidFill>
              </a:defRPr>
            </a:pPr>
            <a:r>
              <a:t>UNIFORM RANDOM CONTROL GROUP:</a:t>
            </a:r>
          </a:p>
          <a:p>
            <a:pPr>
              <a:spcBef>
                <a:spcPts val="400"/>
              </a:spcBef>
              <a:defRPr sz="950"/>
            </a:pPr>
            <a:r>
              <a:t>• In uniform text, all 76 symbols occur with equal probability (p_i = 1/76).</a:t>
            </a:r>
            <a:br/>
            <a:r>
              <a:t>• Maximum entropy H = 6.25 bits/symbol.</a:t>
            </a:r>
            <a:br/>
            <a:r>
              <a:t>• Tree leaves sit at nearly identical depths (depth approx log2 76 = 7).</a:t>
            </a:r>
            <a:br/>
            <a:r>
              <a:t>• Proves that prefix compression requires non-uniformity to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6 &amp; 7: Experiment 1 — Cross-Domain Compression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Harsh R Rao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5943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  <a:gridCol w="914400"/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DNA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Uniform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Records 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2,001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Alphabet (|Sigma|)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Shannon Entropy H(X)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4.389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4.389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2.259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6.248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Huffman L(C) (bits)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4.417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4.411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2.371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6.316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Shannon-Fano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4.418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4.423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2.373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6.316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Fixed 8-Bit ASCII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8.000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8.000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8.000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8.000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Redundancy (R)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0.111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0.068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Compression Ratio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1.81x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1.81x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3.37x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1.27x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Space Savings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44.78%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44.87%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70.37%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21.05%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Kraft Sum (sum 2^-l)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exp1_entropy_vs_code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5720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4663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2C57"/>
                </a:solidFill>
              </a:defRPr>
            </a:pPr>
            <a:r>
              <a:t>KEY QUANTITATIVE OBSERVATIONS:</a:t>
            </a:r>
          </a:p>
          <a:p>
            <a:pPr>
              <a:spcBef>
                <a:spcPts val="200"/>
              </a:spcBef>
              <a:defRPr sz="850"/>
            </a:pPr>
            <a:r>
              <a:t>• Near-Zero Redundancy: In English text, redundancy is only R = 0.028 bits/sym (&lt; 0.63% above theoretical limit).</a:t>
            </a:r>
            <a:br/>
            <a:r>
              <a:t>• Huffman Dominates Shannon-Fano: In every dataset, L_Huffman &lt;= L_SF.</a:t>
            </a:r>
            <a:br/>
            <a:r>
              <a:t>• Kraft Completeness: sum(2^-l) = 1.000000 confirms trees are full.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6 (Cont.): Tree Visualization &amp; Runtime Complexity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Harsh R Rao &amp; Khyathi Jain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pic>
        <p:nvPicPr>
          <p:cNvPr id="7" name="Picture 6" descr="huffman_tree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2962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120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2C57"/>
                </a:solidFill>
              </a:defRPr>
            </a:pPr>
            <a:r>
              <a:t>NetworkX Tree Visualization (Khyathi Jain):</a:t>
            </a:r>
          </a:p>
          <a:p>
            <a:pPr>
              <a:spcBef>
                <a:spcPts val="200"/>
              </a:spcBef>
              <a:defRPr sz="850"/>
            </a:pPr>
            <a:r>
              <a:t>Visualizes rooted binary tree: Blue circles = internal nodes (merged weights); Green squares = leaf symbols. Red edge labels '0' (left) and '1' (right) trace prefix paths.</a:t>
            </a:r>
          </a:p>
        </p:txBody>
      </p:sp>
      <p:pic>
        <p:nvPicPr>
          <p:cNvPr id="9" name="Picture 8" descr="exp2_runtime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42255" cy="29123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212080"/>
            <a:ext cx="52422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2C57"/>
                </a:solidFill>
              </a:defRPr>
            </a:pPr>
            <a:r>
              <a:t>Experiment 2 Scaling Findings (Harsh R Rao):</a:t>
            </a:r>
          </a:p>
          <a:p>
            <a:pPr>
              <a:spcBef>
                <a:spcPts val="200"/>
              </a:spcBef>
              <a:defRPr sz="850"/>
            </a:pPr>
            <a:r>
              <a:t>Tested N = 300 up to 100,000 symbols. Total execution time scales linearly (3.63 ms for 100k symbols), proving high-speed processing (&gt;27,000 chars/ms) suitable for blockchain streaming.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Experiential Learning 8-Stage Syllabus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Khyathi Jain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4785055"/>
              </a:tblGrid>
              <a:tr h="538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Curriculum Stage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Prescribed Syllabus Activity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Project Implementation &amp; Proof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1. Problem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Define real-world engineering problem &amp; significance.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Uncompressed block payload bottleneck in blockchain &amp; genomic repositories.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2. Math Formulation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Represent using discrete structures: trees, Kraft inequality.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Modeled as rooted binary tree T=(V,E); proved Kraft sum = 1.000000 &amp; entropy bound.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3. Algorithm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Select DMGT technique; provide pseudocode.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Greedy bottom-up min-heap priority queue construction &amp; DFS prefix extraction.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4. Implementation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Implement proposed method using Python.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Modular Python codebase (heapq, NetworkX, Matplotlib, codec.py, main.py).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5. Experimental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Conduct at least 2 meaningful experiments.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Exp 1: 4 data domains (N &gt;= 300); Exp 2: Runtime scaling (300 to 100,000 symbols).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6. Results &amp; Interpretation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Present results using tables, graphs, visualizations.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Delivered Tables 2 &amp; 3, Figure 1 (Bar chart), Figure 2 (Tree), Figure 3 (Scaling).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7. Comparison &amp; Discussion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Compare two algorithms and discuss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Compared Huffman vs. Shannon-Fano vs. ASCII, mathematically proving L_Huffman &lt;= L_SF.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1E1E"/>
                          </a:solidFill>
                        </a:defRPr>
                      </a:pPr>
                      <a:r>
                        <a:t>8. Conclusion &amp; Scope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Summarize findings, explain contribution, limitations.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1E1E"/>
                          </a:solidFill>
                        </a:defRPr>
                      </a:pPr>
                      <a:r>
                        <a:t>Confirmed Shannon convergence, noted header overhead, proposed dynamic adaptive coding.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0AD4E"/>
                </a:solidFill>
                <a:latin typeface="Arial"/>
              </a:defRPr>
            </a:pPr>
            <a:r>
              <a:t>TOPIC 14: EXPERIENTIAL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Stage 8: Conclusion, Future Scope &amp; Team Reflections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CEBFC"/>
                </a:solidFill>
                <a:latin typeface="Arial"/>
              </a:defRPr>
            </a:pPr>
            <a:r>
              <a:t>Presenter: All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"/>
              </a:defRPr>
            </a:pPr>
            <a:r>
              <a:t>Discrete Mathematics &amp; Graph Theory (DMGT) | CSE - Blockchain Technology | JAIN (Deemed-to-be University)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PROJECT FINDINGS &amp; LIMITATIONS</a:t>
            </a:r>
          </a:p>
          <a:p>
            <a:pPr>
              <a:spcBef>
                <a:spcPts val="600"/>
              </a:spcBef>
              <a:defRPr sz="1100" b="1">
                <a:solidFill>
                  <a:srgbClr val="31A354"/>
                </a:solidFill>
              </a:defRPr>
            </a:pPr>
            <a:r>
              <a:t>Major Findings:</a:t>
            </a:r>
          </a:p>
          <a:p>
            <a:pPr>
              <a:spcBef>
                <a:spcPts val="200"/>
              </a:spcBef>
              <a:defRPr sz="950"/>
            </a:pPr>
            <a:r>
              <a:t>• Huffman coding guarantees mathematically optimal prefix codes.</a:t>
            </a:r>
            <a:br/>
            <a:r>
              <a:t>• Delivers up to 70.37% storage savings on skewed genomic data.</a:t>
            </a:r>
            <a:br/>
            <a:r>
              <a:t>• Consistently matches or outperforms Shannon-Fano coding (L_Huffman &lt;= L_SF).</a:t>
            </a:r>
            <a:br/>
            <a:r>
              <a:t>• Operates within 0.63% of Shannon theoretical entropy limit on text.</a:t>
            </a:r>
          </a:p>
          <a:p>
            <a:pPr>
              <a:spcBef>
                <a:spcPts val="600"/>
              </a:spcBef>
              <a:defRPr sz="1100" b="1">
                <a:solidFill>
                  <a:srgbClr val="E6550D"/>
                </a:solidFill>
              </a:defRPr>
            </a:pPr>
            <a:r>
              <a:t>Limitations &amp; Future Scope:</a:t>
            </a:r>
          </a:p>
          <a:p>
            <a:pPr>
              <a:spcBef>
                <a:spcPts val="200"/>
              </a:spcBef>
              <a:defRPr sz="950"/>
            </a:pPr>
            <a:r>
              <a:t>• Header Overhead: Storing codebook tables adds overhead on tiny files (N &lt; 200).</a:t>
            </a:r>
            <a:br/>
            <a:r>
              <a:t>• Future Extension 1: Adaptive Dynamic Huffman (Vitter's algorithm) to compress real-time streams with zero header overhead.</a:t>
            </a:r>
            <a:br/>
            <a:r>
              <a:t>• Future Extension 2: Arithmetic Coding for non-integer bit allocation.</a:t>
            </a:r>
            <a:br/>
            <a:r>
              <a:t>• Future Extension 3: Integration into blockchain node transaction pooling.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50815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C57"/>
                </a:solidFill>
              </a:defRPr>
            </a:pPr>
            <a:r>
              <a:t>OPEN FOR QUESTIONS &amp; VIVA DEFENSE</a:t>
            </a:r>
          </a:p>
          <a:p>
            <a:pPr>
              <a:spcBef>
                <a:spcPts val="1000"/>
              </a:spcBef>
              <a:defRPr sz="1000" b="1">
                <a:solidFill>
                  <a:srgbClr val="1F4E78"/>
                </a:solidFill>
              </a:defRPr>
            </a:pPr>
            <a:r>
              <a:t>GitHub Repository Link:</a:t>
            </a:r>
            <a:br/>
            <a:r>
              <a:t>github.com/SmoothnOperator/Dmgt-Huffman-Coding</a:t>
            </a:r>
          </a:p>
          <a:p>
            <a:pPr>
              <a:spcBef>
                <a:spcPts val="600"/>
              </a:spcBef>
              <a:defRPr sz="950"/>
            </a:pPr>
            <a:r>
              <a:t>Team Members Ready for Q&amp;A:</a:t>
            </a:r>
            <a:br/>
            <a:br/>
            <a:r>
              <a:t>• Nikhil Kumar (Lead, Priority Queue &amp; Heap Architecture)</a:t>
            </a:r>
            <a:br/>
            <a:r>
              <a:t>• Piyush Kumar (Codec, Bitstream Serialization &amp; Unit Tests)</a:t>
            </a:r>
            <a:br/>
            <a:r>
              <a:t>• Sakshi Kumari (DMGT Theory, Kraft Inequality &amp; Entropy)</a:t>
            </a:r>
            <a:br/>
            <a:r>
              <a:t>• Arushi Pramanik (Datasets, NCBI GenBank &amp; Skewness)</a:t>
            </a:r>
            <a:br/>
            <a:r>
              <a:t>• Harsh R Rao (Experiments 1 &amp; 2, Benchmarks &amp; Scaling)</a:t>
            </a:r>
            <a:br/>
            <a:r>
              <a:t>• Khyathi Jain (Tree Visualizations, Slides &amp; Documentation)</a:t>
            </a:r>
            <a:br/>
            <a:br/>
            <a:r>
              <a:t>Special thanks to our course faculty Dr. Priya Satish for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